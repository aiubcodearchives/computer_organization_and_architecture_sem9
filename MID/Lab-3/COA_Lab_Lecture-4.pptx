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370" r:id="rId4"/>
    <p:sldId id="372" r:id="rId5"/>
    <p:sldId id="373" r:id="rId6"/>
    <p:sldId id="374" r:id="rId7"/>
    <p:sldId id="375" r:id="rId8"/>
    <p:sldId id="376" r:id="rId9"/>
    <p:sldId id="377" r:id="rId10"/>
    <p:sldId id="378" r:id="rId11"/>
    <p:sldId id="379" r:id="rId12"/>
    <p:sldId id="371" r:id="rId13"/>
    <p:sldId id="363" r:id="rId14"/>
    <p:sldId id="367" r:id="rId15"/>
    <p:sldId id="368" r:id="rId16"/>
    <p:sldId id="366" r:id="rId17"/>
    <p:sldId id="369" r:id="rId18"/>
    <p:sldId id="380" r:id="rId19"/>
    <p:sldId id="381" r:id="rId20"/>
    <p:sldId id="264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pta Justin Gomes" userId="80a30147-8bc2-457a-9f88-f3a4049296b4" providerId="ADAL" clId="{C72F87A5-7DA5-4E5E-B5BA-3373A85021AA}"/>
    <pc:docChg chg="modSld">
      <pc:chgData name="Dipta Justin Gomes" userId="80a30147-8bc2-457a-9f88-f3a4049296b4" providerId="ADAL" clId="{C72F87A5-7DA5-4E5E-B5BA-3373A85021AA}" dt="2025-11-12T04:39:49.837" v="0" actId="20577"/>
      <pc:docMkLst>
        <pc:docMk/>
      </pc:docMkLst>
      <pc:sldChg chg="modSp mod">
        <pc:chgData name="Dipta Justin Gomes" userId="80a30147-8bc2-457a-9f88-f3a4049296b4" providerId="ADAL" clId="{C72F87A5-7DA5-4E5E-B5BA-3373A85021AA}" dt="2025-11-12T04:39:49.837" v="0" actId="20577"/>
        <pc:sldMkLst>
          <pc:docMk/>
          <pc:sldMk cId="700707328" sldId="256"/>
        </pc:sldMkLst>
        <pc:graphicFrameChg chg="modGraphic">
          <ac:chgData name="Dipta Justin Gomes" userId="80a30147-8bc2-457a-9f88-f3a4049296b4" providerId="ADAL" clId="{C72F87A5-7DA5-4E5E-B5BA-3373A85021AA}" dt="2025-11-12T04:39:49.837" v="0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Flow Control Instructions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COE 3205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7341395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Lab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Fall 22-23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endParaRPr lang="en-US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290044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Computer Organization &amp; Architecture 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896195"/>
          </a:xfrm>
        </p:spPr>
        <p:txBody>
          <a:bodyPr>
            <a:normAutofit/>
          </a:bodyPr>
          <a:lstStyle/>
          <a:p>
            <a:pPr marL="971550" lvl="0" indent="-514350" defTabSz="461518">
              <a:spcBef>
                <a:spcPts val="800"/>
              </a:spcBef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lang="en-US" sz="2800" dirty="0">
                <a:solidFill>
                  <a:schemeClr val="tx1"/>
                </a:solidFill>
              </a:rPr>
              <a:t>Decision making and repeating statement</a:t>
            </a:r>
          </a:p>
          <a:p>
            <a:pPr marL="971550" lvl="0" indent="-514350" defTabSz="461518">
              <a:spcBef>
                <a:spcPts val="800"/>
              </a:spcBef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lang="en-US" sz="2800" dirty="0">
                <a:solidFill>
                  <a:schemeClr val="tx1"/>
                </a:solidFill>
              </a:rPr>
              <a:t>Level</a:t>
            </a: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endParaRPr lang="en-US" sz="2800" b="1" dirty="0">
              <a:solidFill>
                <a:schemeClr val="tx1"/>
              </a:solidFill>
            </a:endParaRP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Jump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896195"/>
          </a:xfrm>
        </p:spPr>
        <p:txBody>
          <a:bodyPr>
            <a:normAutofit/>
          </a:bodyPr>
          <a:lstStyle/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800" dirty="0">
                <a:solidFill>
                  <a:schemeClr val="tx1"/>
                </a:solidFill>
              </a:rPr>
              <a:t>Jump instructions transfers control to another program</a:t>
            </a: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lang="en-US" sz="2800" dirty="0">
              <a:solidFill>
                <a:schemeClr val="tx1"/>
              </a:solidFill>
            </a:endParaRP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800" dirty="0">
                <a:solidFill>
                  <a:schemeClr val="tx1"/>
                </a:solidFill>
              </a:rPr>
              <a:t>The transfers can be unconditional  or </a:t>
            </a: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lang="en-US" sz="2800" dirty="0">
              <a:solidFill>
                <a:schemeClr val="tx1"/>
              </a:solidFill>
            </a:endParaRP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800" dirty="0">
                <a:solidFill>
                  <a:schemeClr val="tx1"/>
                </a:solidFill>
              </a:rPr>
              <a:t>Depends on a particular combination of status flags settings</a:t>
            </a: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lang="en-US" sz="2800" b="1" dirty="0">
              <a:solidFill>
                <a:schemeClr val="tx1"/>
              </a:solidFill>
            </a:endParaRP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lang="en-US" sz="2800" b="1" dirty="0">
              <a:solidFill>
                <a:schemeClr val="tx1"/>
              </a:solidFill>
            </a:endParaRP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endParaRPr lang="en-US" sz="2800" b="1" dirty="0">
              <a:solidFill>
                <a:schemeClr val="tx1"/>
              </a:solidFill>
            </a:endParaRP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1426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Unconditional Jump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896195"/>
          </a:xfrm>
        </p:spPr>
        <p:txBody>
          <a:bodyPr>
            <a:normAutofit/>
          </a:bodyPr>
          <a:lstStyle/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Does not depend on any condition</a:t>
            </a: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  <a:p>
            <a:pPr marL="97155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Jump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destination_level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Example :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jmp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level1</a:t>
            </a: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endParaRPr 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endParaRPr 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307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Conditional Jump Conti…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896195"/>
          </a:xfrm>
        </p:spPr>
        <p:txBody>
          <a:bodyPr>
            <a:normAutofit/>
          </a:bodyPr>
          <a:lstStyle/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Depends on a particular combination of status flags settings</a:t>
            </a: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  <a:p>
            <a:pPr marL="97155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Jump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destination_level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Example :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jnz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level1</a:t>
            </a: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endParaRPr 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0668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Conditional Jump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2842555"/>
          </a:xfrm>
        </p:spPr>
        <p:txBody>
          <a:bodyPr>
            <a:normAutofit/>
          </a:bodyPr>
          <a:lstStyle/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are three types of conditional jumps</a:t>
            </a: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85950" lvl="2" indent="-514350" algn="just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Signed Conditional Jumps</a:t>
            </a:r>
          </a:p>
          <a:p>
            <a:pPr marL="1885950" lvl="2" indent="-514350" algn="just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Unsigned Conditional Jumps</a:t>
            </a:r>
          </a:p>
          <a:p>
            <a:pPr marL="1885950" lvl="2" indent="-514350" algn="just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Single-Flag Jumps</a:t>
            </a:r>
          </a:p>
          <a:p>
            <a:pPr marL="1428750" lvl="1" indent="-514350" algn="just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lang="en-US" sz="2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6171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2" y="449005"/>
            <a:ext cx="5618814" cy="798864"/>
          </a:xfrm>
        </p:spPr>
        <p:txBody>
          <a:bodyPr>
            <a:normAutofit fontScale="90000"/>
          </a:bodyPr>
          <a:lstStyle/>
          <a:p>
            <a:r>
              <a:rPr lang="en-US" dirty="0"/>
              <a:t>Signed Conditional Jump</a:t>
            </a:r>
          </a:p>
        </p:txBody>
      </p:sp>
      <p:graphicFrame>
        <p:nvGraphicFramePr>
          <p:cNvPr id="7" name="Shape 91">
            <a:extLst>
              <a:ext uri="{FF2B5EF4-FFF2-40B4-BE49-F238E27FC236}">
                <a16:creationId xmlns:a16="http://schemas.microsoft.com/office/drawing/2014/main" id="{340B0347-8C75-4094-AA92-0FFAA90E73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2213328"/>
              </p:ext>
            </p:extLst>
          </p:nvPr>
        </p:nvGraphicFramePr>
        <p:xfrm>
          <a:off x="860613" y="2222427"/>
          <a:ext cx="7275682" cy="389190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33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4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78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319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JG or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JNLE</a:t>
                      </a:r>
                      <a:endParaRPr lang="en-US" sz="180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Jump if Greater than</a:t>
                      </a:r>
                    </a:p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Jump if Not Less than or Equal to </a:t>
                      </a:r>
                      <a:endParaRPr lang="en-US" sz="180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ZF = 0 and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SF = OF</a:t>
                      </a:r>
                      <a:endParaRPr lang="en-US" sz="180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914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JGE   or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JNL</a:t>
                      </a:r>
                      <a:endParaRPr lang="en-US" sz="180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Jump if Greater than or Equal to</a:t>
                      </a:r>
                    </a:p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Jump if Not less than</a:t>
                      </a:r>
                      <a:endParaRPr lang="en-US" sz="180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SF = OF</a:t>
                      </a:r>
                      <a:endParaRPr lang="en-US" sz="180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319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JL  or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JNGE</a:t>
                      </a:r>
                      <a:endParaRPr lang="en-US" sz="180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Jump if less than</a:t>
                      </a:r>
                    </a:p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Jump if not greater than or equal</a:t>
                      </a:r>
                      <a:endParaRPr lang="en-US" sz="180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SF&lt;&gt;OF</a:t>
                      </a:r>
                      <a:endParaRPr lang="en-US" sz="180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363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JLE   or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JNG</a:t>
                      </a:r>
                      <a:endParaRPr lang="en-US" sz="180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Jump if less than or Equal</a:t>
                      </a:r>
                    </a:p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Jump if not greater than</a:t>
                      </a:r>
                      <a:endParaRPr lang="en-US" sz="180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ZF = 1 or SF&lt;&gt; OF</a:t>
                      </a:r>
                      <a:endParaRPr lang="en-US" sz="180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8150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5988789" cy="798864"/>
          </a:xfrm>
        </p:spPr>
        <p:txBody>
          <a:bodyPr>
            <a:normAutofit fontScale="90000"/>
          </a:bodyPr>
          <a:lstStyle/>
          <a:p>
            <a:r>
              <a:rPr lang="en-US" dirty="0"/>
              <a:t>Unsigned Conditional Jump</a:t>
            </a:r>
          </a:p>
        </p:txBody>
      </p:sp>
      <p:graphicFrame>
        <p:nvGraphicFramePr>
          <p:cNvPr id="4" name="Shape 97">
            <a:extLst>
              <a:ext uri="{FF2B5EF4-FFF2-40B4-BE49-F238E27FC236}">
                <a16:creationId xmlns:a16="http://schemas.microsoft.com/office/drawing/2014/main" id="{6475E688-2A7B-4E13-B135-1643EC18B7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1537390"/>
              </p:ext>
            </p:extLst>
          </p:nvPr>
        </p:nvGraphicFramePr>
        <p:xfrm>
          <a:off x="860611" y="2150502"/>
          <a:ext cx="6631871" cy="383303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15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3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2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889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JA or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JNBE</a:t>
                      </a:r>
                      <a:endParaRPr lang="en-US" sz="180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Jump if Above</a:t>
                      </a:r>
                    </a:p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Jump if Not Below or Equal to </a:t>
                      </a:r>
                      <a:endParaRPr lang="en-US" sz="180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ZF = 0 and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CF = 0</a:t>
                      </a:r>
                      <a:endParaRPr lang="en-US" sz="180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813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JAE   or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JNB</a:t>
                      </a:r>
                      <a:endParaRPr lang="en-US" sz="180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Jump if Above or Equal to</a:t>
                      </a:r>
                    </a:p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Jump if Not Below </a:t>
                      </a:r>
                      <a:endParaRPr lang="en-US" sz="180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CF = 0</a:t>
                      </a:r>
                      <a:endParaRPr lang="en-US" sz="180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462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JB  or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JNAE</a:t>
                      </a:r>
                      <a:endParaRPr lang="en-US" sz="180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Jump if Below</a:t>
                      </a:r>
                    </a:p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Jump if not Above or Equal</a:t>
                      </a:r>
                      <a:endParaRPr lang="en-US" sz="180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CF = 1</a:t>
                      </a:r>
                      <a:endParaRPr lang="en-US" sz="180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144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JBE   or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JNA</a:t>
                      </a:r>
                      <a:endParaRPr lang="en-US" sz="180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Jump if Below or Equal</a:t>
                      </a:r>
                    </a:p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Jump if Not Above</a:t>
                      </a:r>
                      <a:endParaRPr lang="en-US" sz="180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CF=1 or ZF = 1</a:t>
                      </a:r>
                      <a:endParaRPr lang="en-US" sz="180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7882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6250047" cy="798864"/>
          </a:xfrm>
        </p:spPr>
        <p:txBody>
          <a:bodyPr>
            <a:normAutofit fontScale="90000"/>
          </a:bodyPr>
          <a:lstStyle/>
          <a:p>
            <a:r>
              <a:rPr lang="en-US" dirty="0"/>
              <a:t>Single-Flag Conditional Jump</a:t>
            </a:r>
          </a:p>
        </p:txBody>
      </p:sp>
      <p:graphicFrame>
        <p:nvGraphicFramePr>
          <p:cNvPr id="5" name="Shape 103">
            <a:extLst>
              <a:ext uri="{FF2B5EF4-FFF2-40B4-BE49-F238E27FC236}">
                <a16:creationId xmlns:a16="http://schemas.microsoft.com/office/drawing/2014/main" id="{8A6E57E1-E84B-40EC-845B-ED6FEA0629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9027013"/>
              </p:ext>
            </p:extLst>
          </p:nvPr>
        </p:nvGraphicFramePr>
        <p:xfrm>
          <a:off x="985089" y="2183362"/>
          <a:ext cx="7207189" cy="45821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21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6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91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597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JE or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JZ</a:t>
                      </a:r>
                      <a:endParaRPr lang="en-US" sz="18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Equal</a:t>
                      </a:r>
                    </a:p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equal to Zero</a:t>
                      </a:r>
                      <a:endParaRPr lang="en-US" sz="18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ZF = 1</a:t>
                      </a:r>
                      <a:endParaRPr lang="en-US" sz="18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7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JNE   or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JNZ</a:t>
                      </a:r>
                      <a:endParaRPr lang="en-US" sz="18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Not Equal</a:t>
                      </a:r>
                    </a:p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Not Zero </a:t>
                      </a:r>
                      <a:endParaRPr lang="en-US" sz="18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ZF = 0</a:t>
                      </a:r>
                      <a:endParaRPr lang="en-US" sz="18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97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JC </a:t>
                      </a:r>
                      <a:endParaRPr lang="en-US" sz="18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Carry</a:t>
                      </a:r>
                      <a:endParaRPr lang="en-US" sz="18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CF = 1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CF = 0</a:t>
                      </a:r>
                      <a:endParaRPr lang="en-US" sz="18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98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JNC</a:t>
                      </a:r>
                      <a:endParaRPr lang="en-US" sz="18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no Carry</a:t>
                      </a:r>
                      <a:endParaRPr lang="en-US" sz="18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CF=0</a:t>
                      </a:r>
                      <a:endParaRPr lang="en-US" sz="18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98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JO</a:t>
                      </a:r>
                      <a:endParaRPr lang="en-US" sz="18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Overflow</a:t>
                      </a:r>
                      <a:endParaRPr lang="en-US" sz="18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CF=1 or ZF = 1</a:t>
                      </a:r>
                      <a:endParaRPr lang="en-US" sz="18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298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JNO</a:t>
                      </a:r>
                      <a:endParaRPr lang="en-US" sz="18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No Overflow</a:t>
                      </a:r>
                      <a:endParaRPr lang="en-US" sz="18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OF=1</a:t>
                      </a:r>
                      <a:endParaRPr lang="en-US" sz="18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298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JS</a:t>
                      </a:r>
                      <a:endParaRPr lang="en-US" sz="18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Sign Negative</a:t>
                      </a:r>
                      <a:endParaRPr lang="en-US" sz="18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SF = 1</a:t>
                      </a:r>
                      <a:endParaRPr lang="en-US" sz="18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298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JNS</a:t>
                      </a:r>
                      <a:endParaRPr lang="en-US" sz="18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Non-Negative Sign</a:t>
                      </a:r>
                      <a:endParaRPr lang="en-US" sz="18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SF =0</a:t>
                      </a:r>
                      <a:endParaRPr lang="en-US" sz="18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298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JP/JPE</a:t>
                      </a:r>
                      <a:endParaRPr lang="en-US" sz="18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Parity Even</a:t>
                      </a:r>
                      <a:endParaRPr lang="en-US" sz="18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PF=1</a:t>
                      </a:r>
                      <a:endParaRPr lang="en-US" sz="18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298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JNP/JPO</a:t>
                      </a:r>
                      <a:endParaRPr lang="en-US" sz="18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parity Odd</a:t>
                      </a:r>
                      <a:endParaRPr lang="en-US" sz="18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PF=1</a:t>
                      </a:r>
                      <a:endParaRPr lang="en-US" sz="18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4311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4BEBCF-2F59-41D6-9FFB-0DAAD229D430}"/>
              </a:ext>
            </a:extLst>
          </p:cNvPr>
          <p:cNvSpPr/>
          <p:nvPr/>
        </p:nvSpPr>
        <p:spPr>
          <a:xfrm>
            <a:off x="550506" y="2192894"/>
            <a:ext cx="8092824" cy="3016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Jump</a:t>
            </a:r>
            <a:r>
              <a:rPr lang="en-US" sz="2200" dirty="0"/>
              <a:t> instruction has a general format </a:t>
            </a:r>
            <a:r>
              <a:rPr lang="en-US" sz="2200" b="1" dirty="0" err="1"/>
              <a:t>jxx</a:t>
            </a:r>
            <a:r>
              <a:rPr lang="en-US" sz="2200" dirty="0"/>
              <a:t>  </a:t>
            </a:r>
            <a:r>
              <a:rPr lang="en-US" sz="2200" b="1" dirty="0"/>
              <a:t>label</a:t>
            </a:r>
            <a:r>
              <a:rPr lang="en-US" sz="2200" dirty="0"/>
              <a:t> where </a:t>
            </a:r>
            <a:r>
              <a:rPr lang="en-US" sz="2200" b="1" dirty="0"/>
              <a:t>label</a:t>
            </a:r>
            <a:r>
              <a:rPr lang="en-US" sz="2200" dirty="0"/>
              <a:t> is a facility offered by the assembler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Labels are used with jump and loop statements to refer another instruction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Labels are needed to refer another instruction</a:t>
            </a:r>
          </a:p>
          <a:p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13654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631785-6AFA-4DF1-84CE-25CF4E3870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314"/>
          <a:stretch/>
        </p:blipFill>
        <p:spPr>
          <a:xfrm>
            <a:off x="385629" y="2377560"/>
            <a:ext cx="8422578" cy="3268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241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1341" y="2363927"/>
            <a:ext cx="7819468" cy="3896195"/>
          </a:xfrm>
        </p:spPr>
        <p:txBody>
          <a:bodyPr>
            <a:normAutofit/>
          </a:bodyPr>
          <a:lstStyle/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Example</a:t>
            </a:r>
          </a:p>
          <a:p>
            <a:pPr marL="45720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lang="en-US" sz="2800" dirty="0">
                <a:solidFill>
                  <a:schemeClr val="tx1"/>
                </a:solidFill>
              </a:rPr>
              <a:t>    </a:t>
            </a:r>
            <a:r>
              <a:rPr lang="en-US" sz="2800" dirty="0" err="1">
                <a:solidFill>
                  <a:schemeClr val="tx1"/>
                </a:solidFill>
              </a:rPr>
              <a:t>Jmp</a:t>
            </a:r>
            <a:r>
              <a:rPr lang="en-US" sz="2800" dirty="0">
                <a:solidFill>
                  <a:schemeClr val="tx1"/>
                </a:solidFill>
              </a:rPr>
              <a:t> Exit</a:t>
            </a:r>
          </a:p>
          <a:p>
            <a:pPr marL="45720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endParaRPr lang="en-US" sz="2800" dirty="0">
              <a:solidFill>
                <a:schemeClr val="tx1"/>
              </a:solidFill>
            </a:endParaRPr>
          </a:p>
          <a:p>
            <a:pPr marL="45720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lang="en-US" sz="2800" dirty="0">
                <a:solidFill>
                  <a:schemeClr val="tx1"/>
                </a:solidFill>
              </a:rPr>
              <a:t>     Exit:</a:t>
            </a:r>
          </a:p>
          <a:p>
            <a:pPr marL="45720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lang="en-US" sz="2800" dirty="0">
                <a:solidFill>
                  <a:schemeClr val="tx1"/>
                </a:solidFill>
              </a:rPr>
              <a:t>         Mov ah, 4ch</a:t>
            </a:r>
          </a:p>
          <a:p>
            <a:pPr marL="45720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lang="en-US" sz="2800" dirty="0">
                <a:solidFill>
                  <a:schemeClr val="tx1"/>
                </a:solidFill>
              </a:rPr>
              <a:t>         Int 21h</a:t>
            </a: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lang="en-US" sz="2800" b="1" dirty="0">
              <a:solidFill>
                <a:schemeClr val="tx1"/>
              </a:solidFill>
            </a:endParaRP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endParaRPr lang="en-US" sz="2800" b="1" dirty="0">
              <a:solidFill>
                <a:schemeClr val="tx1"/>
              </a:solidFill>
            </a:endParaRP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5627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Task: 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449353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Write an assembly program that non-stop prints Hello World. </a:t>
            </a:r>
            <a:r>
              <a:rPr lang="en-US" sz="2200" b="1" dirty="0"/>
              <a:t>Hints</a:t>
            </a:r>
            <a:r>
              <a:rPr lang="en-US" sz="2200" dirty="0"/>
              <a:t>: Use unconditional </a:t>
            </a:r>
            <a:r>
              <a:rPr lang="en-US" sz="2200" b="1" dirty="0" err="1"/>
              <a:t>jmp</a:t>
            </a:r>
            <a:r>
              <a:rPr lang="en-US" sz="2200" dirty="0"/>
              <a:t> and </a:t>
            </a:r>
            <a:r>
              <a:rPr lang="en-US" sz="2200" b="1" dirty="0"/>
              <a:t>label </a:t>
            </a:r>
            <a:r>
              <a:rPr lang="en-US" sz="2200" dirty="0"/>
              <a:t>instructions.</a:t>
            </a:r>
            <a:endParaRPr lang="en-US" sz="2200" b="1" dirty="0"/>
          </a:p>
          <a:p>
            <a:r>
              <a:rPr lang="en-US" sz="2200" b="1" dirty="0"/>
              <a:t>   </a:t>
            </a:r>
            <a:endParaRPr lang="en-US" sz="2200" dirty="0"/>
          </a:p>
          <a:p>
            <a:r>
              <a:rPr lang="en-US" sz="2200" b="1" dirty="0"/>
              <a:t>    Sample Output</a:t>
            </a:r>
            <a:endParaRPr lang="en-US" sz="2200" dirty="0">
              <a:cs typeface="Calibri"/>
            </a:endParaRPr>
          </a:p>
          <a:p>
            <a:r>
              <a:rPr lang="en-US" sz="2200" dirty="0"/>
              <a:t>Hello world</a:t>
            </a:r>
            <a:endParaRPr lang="en-US" sz="2200" dirty="0">
              <a:cs typeface="Calibri"/>
            </a:endParaRPr>
          </a:p>
          <a:p>
            <a:r>
              <a:rPr lang="en-US" sz="2200" dirty="0"/>
              <a:t>Hello world</a:t>
            </a:r>
            <a:endParaRPr lang="en-US" sz="2200" dirty="0">
              <a:cs typeface="Calibri"/>
            </a:endParaRPr>
          </a:p>
          <a:p>
            <a:r>
              <a:rPr lang="en-US" sz="2200" dirty="0"/>
              <a:t>Hello world</a:t>
            </a:r>
            <a:endParaRPr lang="en-US" sz="2200" dirty="0">
              <a:cs typeface="Calibri"/>
            </a:endParaRPr>
          </a:p>
          <a:p>
            <a:r>
              <a:rPr lang="en-US" sz="2200" dirty="0"/>
              <a:t>Hello world</a:t>
            </a:r>
            <a:endParaRPr lang="en-US" sz="2200" dirty="0">
              <a:cs typeface="Calibri"/>
            </a:endParaRPr>
          </a:p>
          <a:p>
            <a:r>
              <a:rPr lang="en-US" sz="2200" dirty="0"/>
              <a:t>Hello world</a:t>
            </a:r>
            <a:endParaRPr lang="en-US" sz="2200" dirty="0">
              <a:cs typeface="Calibri"/>
            </a:endParaRPr>
          </a:p>
          <a:p>
            <a:r>
              <a:rPr lang="en-US" sz="2200" dirty="0"/>
              <a:t>Hello world</a:t>
            </a:r>
            <a:endParaRPr lang="en-US" sz="2200" dirty="0">
              <a:cs typeface="Calibri"/>
            </a:endParaRPr>
          </a:p>
          <a:p>
            <a:r>
              <a:rPr lang="en-US" sz="2200" dirty="0">
                <a:cs typeface="Calibri"/>
              </a:rPr>
              <a:t>---------------</a:t>
            </a:r>
            <a:endParaRPr lang="en-US" sz="2200" dirty="0"/>
          </a:p>
          <a:p>
            <a:r>
              <a:rPr lang="en-US" sz="2200" dirty="0"/>
              <a:t>Hello world</a:t>
            </a:r>
            <a:endParaRPr lang="en-US" sz="2200" dirty="0">
              <a:cs typeface="Calibri"/>
            </a:endParaRPr>
          </a:p>
          <a:p>
            <a:pPr lvl="3"/>
            <a:endParaRPr lang="en-US" sz="2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8A45A0-8C68-46A7-AB88-6C3C816BF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325" y="3428260"/>
            <a:ext cx="1209675" cy="27815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FB8541-BA08-4760-B364-E329AF78BDFD}"/>
              </a:ext>
            </a:extLst>
          </p:cNvPr>
          <p:cNvSpPr txBox="1"/>
          <p:nvPr/>
        </p:nvSpPr>
        <p:spPr>
          <a:xfrm>
            <a:off x="3924538" y="3100481"/>
            <a:ext cx="4972404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.model small</a:t>
            </a:r>
          </a:p>
          <a:p>
            <a:r>
              <a:rPr lang="en-US" dirty="0">
                <a:ea typeface="+mn-lt"/>
                <a:cs typeface="+mn-lt"/>
              </a:rPr>
              <a:t>.stack 100h</a:t>
            </a:r>
          </a:p>
          <a:p>
            <a:r>
              <a:rPr lang="en-US" dirty="0">
                <a:ea typeface="+mn-lt"/>
                <a:cs typeface="+mn-lt"/>
              </a:rPr>
              <a:t>.data</a:t>
            </a:r>
          </a:p>
          <a:p>
            <a:r>
              <a:rPr lang="en-US" dirty="0">
                <a:ea typeface="+mn-lt"/>
                <a:cs typeface="+mn-lt"/>
              </a:rPr>
              <a:t>msg </a:t>
            </a:r>
            <a:r>
              <a:rPr lang="en-US" dirty="0" err="1">
                <a:ea typeface="+mn-lt"/>
                <a:cs typeface="+mn-lt"/>
              </a:rPr>
              <a:t>db</a:t>
            </a:r>
            <a:r>
              <a:rPr lang="en-US" dirty="0">
                <a:ea typeface="+mn-lt"/>
                <a:cs typeface="+mn-lt"/>
              </a:rPr>
              <a:t> 0ah,0dh, "Hello, World $"</a:t>
            </a:r>
          </a:p>
          <a:p>
            <a:r>
              <a:rPr lang="en-US" dirty="0">
                <a:ea typeface="+mn-lt"/>
                <a:cs typeface="+mn-lt"/>
              </a:rPr>
              <a:t>.code</a:t>
            </a:r>
          </a:p>
          <a:p>
            <a:r>
              <a:rPr lang="en-US" dirty="0">
                <a:ea typeface="+mn-lt"/>
                <a:cs typeface="+mn-lt"/>
              </a:rPr>
              <a:t>main proc</a:t>
            </a:r>
          </a:p>
          <a:p>
            <a:r>
              <a:rPr lang="en-US" dirty="0">
                <a:ea typeface="+mn-lt"/>
                <a:cs typeface="+mn-lt"/>
              </a:rPr>
              <a:t>start: </a:t>
            </a:r>
          </a:p>
          <a:p>
            <a:r>
              <a:rPr lang="en-US" dirty="0">
                <a:ea typeface="+mn-lt"/>
                <a:cs typeface="+mn-lt"/>
              </a:rPr>
              <a:t> mov ah,9   ; print function is 9.  </a:t>
            </a:r>
          </a:p>
          <a:p>
            <a:r>
              <a:rPr lang="en-US" dirty="0">
                <a:ea typeface="+mn-lt"/>
                <a:cs typeface="+mn-lt"/>
              </a:rPr>
              <a:t> lea </a:t>
            </a:r>
            <a:r>
              <a:rPr lang="en-US" dirty="0" err="1">
                <a:ea typeface="+mn-lt"/>
                <a:cs typeface="+mn-lt"/>
              </a:rPr>
              <a:t>dx,msg</a:t>
            </a:r>
            <a:r>
              <a:rPr lang="en-US" dirty="0">
                <a:ea typeface="+mn-lt"/>
                <a:cs typeface="+mn-lt"/>
              </a:rPr>
              <a:t> ; load offset of msg into dx.</a:t>
            </a:r>
          </a:p>
          <a:p>
            <a:r>
              <a:rPr lang="en-US" dirty="0">
                <a:ea typeface="+mn-lt"/>
                <a:cs typeface="+mn-lt"/>
              </a:rPr>
              <a:t> int 21h        ; do it!</a:t>
            </a:r>
          </a:p>
          <a:p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jmp</a:t>
            </a:r>
            <a:r>
              <a:rPr lang="en-US" dirty="0">
                <a:ea typeface="+mn-lt"/>
                <a:cs typeface="+mn-lt"/>
              </a:rPr>
              <a:t> start</a:t>
            </a:r>
          </a:p>
          <a:p>
            <a:r>
              <a:rPr lang="en-US" dirty="0">
                <a:ea typeface="+mn-lt"/>
                <a:cs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56752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Task: 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3939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Write an assembly program that prints Hello World five times and then prints Bye world. </a:t>
            </a:r>
            <a:r>
              <a:rPr lang="en-US" sz="2200" b="1" dirty="0"/>
              <a:t>Hints</a:t>
            </a:r>
            <a:r>
              <a:rPr lang="en-US" sz="2200" dirty="0"/>
              <a:t>: Use unconditional </a:t>
            </a:r>
            <a:r>
              <a:rPr lang="en-US" sz="2200" b="1" dirty="0"/>
              <a:t> CMP, </a:t>
            </a:r>
            <a:r>
              <a:rPr lang="en-US" sz="2200" dirty="0"/>
              <a:t>conditional </a:t>
            </a:r>
            <a:r>
              <a:rPr lang="en-US" sz="2200" b="1" dirty="0"/>
              <a:t>JE, JNE</a:t>
            </a:r>
            <a:r>
              <a:rPr lang="en-US" sz="2200" dirty="0"/>
              <a:t> instruction</a:t>
            </a:r>
            <a:r>
              <a:rPr lang="en-US" sz="2200" b="1" dirty="0"/>
              <a:t>. </a:t>
            </a: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lvl="2"/>
            <a:r>
              <a:rPr lang="en-US" sz="2200" b="1" dirty="0"/>
              <a:t>Sample Output</a:t>
            </a:r>
          </a:p>
          <a:p>
            <a:pPr lvl="3"/>
            <a:r>
              <a:rPr lang="en-US" sz="2000" dirty="0"/>
              <a:t>Hello world </a:t>
            </a:r>
          </a:p>
          <a:p>
            <a:pPr lvl="3"/>
            <a:r>
              <a:rPr lang="en-US" sz="2000" dirty="0"/>
              <a:t>Hello world </a:t>
            </a:r>
          </a:p>
          <a:p>
            <a:pPr lvl="3"/>
            <a:r>
              <a:rPr lang="en-US" sz="2000" dirty="0"/>
              <a:t>Hello world</a:t>
            </a:r>
          </a:p>
          <a:p>
            <a:pPr lvl="3"/>
            <a:r>
              <a:rPr lang="en-US" sz="2000" dirty="0"/>
              <a:t>Hello world</a:t>
            </a:r>
          </a:p>
          <a:p>
            <a:pPr lvl="3"/>
            <a:r>
              <a:rPr lang="en-US" sz="2000" dirty="0"/>
              <a:t>Hello world</a:t>
            </a:r>
          </a:p>
          <a:p>
            <a:pPr lvl="3"/>
            <a:endParaRPr lang="en-US" sz="2000" dirty="0"/>
          </a:p>
          <a:p>
            <a:pPr lvl="3"/>
            <a:r>
              <a:rPr lang="en-US" sz="2000" dirty="0"/>
              <a:t>Bye world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1D3620-F782-4823-8978-DB37E3768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004" y="3646520"/>
            <a:ext cx="3445652" cy="2269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3748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Task:  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3385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Read an integer from user. Check whether the number is positive or negative. Hints: </a:t>
            </a:r>
            <a:r>
              <a:rPr lang="en-US" sz="2000" b="1" dirty="0"/>
              <a:t>JMP, JL, JG </a:t>
            </a:r>
            <a:r>
              <a:rPr lang="en-US" sz="2000" dirty="0"/>
              <a:t>instructions</a:t>
            </a:r>
          </a:p>
          <a:p>
            <a:endParaRPr lang="en-US" sz="2000" dirty="0"/>
          </a:p>
          <a:p>
            <a:pPr lvl="2"/>
            <a:r>
              <a:rPr lang="en-US" sz="2200" b="1" dirty="0"/>
              <a:t>Sample output</a:t>
            </a:r>
          </a:p>
          <a:p>
            <a:pPr lvl="2"/>
            <a:r>
              <a:rPr lang="en-US" sz="2200" dirty="0"/>
              <a:t>Enter a number: </a:t>
            </a:r>
            <a:r>
              <a:rPr lang="en-US" sz="2200" dirty="0">
                <a:solidFill>
                  <a:srgbClr val="FF0000"/>
                </a:solidFill>
              </a:rPr>
              <a:t>1</a:t>
            </a:r>
          </a:p>
          <a:p>
            <a:pPr lvl="2"/>
            <a:r>
              <a:rPr lang="en-US" sz="2200" dirty="0">
                <a:solidFill>
                  <a:srgbClr val="FF0000"/>
                </a:solidFill>
              </a:rPr>
              <a:t>Positive</a:t>
            </a:r>
          </a:p>
          <a:p>
            <a:pPr lvl="2"/>
            <a:endParaRPr lang="en-US" sz="2200" dirty="0">
              <a:solidFill>
                <a:srgbClr val="FF0000"/>
              </a:solidFill>
            </a:endParaRPr>
          </a:p>
          <a:p>
            <a:pPr lvl="2"/>
            <a:r>
              <a:rPr lang="en-US" sz="2200" dirty="0"/>
              <a:t>Enter a number: </a:t>
            </a:r>
            <a:r>
              <a:rPr lang="en-US" sz="2200" dirty="0">
                <a:solidFill>
                  <a:srgbClr val="FF0000"/>
                </a:solidFill>
              </a:rPr>
              <a:t>-1 </a:t>
            </a:r>
          </a:p>
          <a:p>
            <a:pPr lvl="2"/>
            <a:r>
              <a:rPr lang="en-US" sz="2200" dirty="0">
                <a:solidFill>
                  <a:srgbClr val="FF0000"/>
                </a:solidFill>
              </a:rPr>
              <a:t>Negative</a:t>
            </a:r>
          </a:p>
          <a:p>
            <a:pPr lvl="2"/>
            <a:endParaRPr lang="en-US" sz="2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3714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</a:t>
            </a:r>
            <a:r>
              <a:rPr lang="en-US"/>
              <a:t>:  4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Suppose that </a:t>
            </a:r>
            <a:r>
              <a:rPr lang="en-US" sz="2000" b="1" dirty="0"/>
              <a:t>CL</a:t>
            </a:r>
            <a:r>
              <a:rPr lang="en-US" sz="2000" dirty="0"/>
              <a:t> contains the value of </a:t>
            </a:r>
            <a:r>
              <a:rPr lang="en-US" sz="2000" b="1" dirty="0"/>
              <a:t>5</a:t>
            </a:r>
            <a:r>
              <a:rPr lang="en-US" sz="2000" dirty="0"/>
              <a:t>. Take an integer from user. Compare the value with </a:t>
            </a:r>
            <a:r>
              <a:rPr lang="en-US" sz="2000" b="1" dirty="0"/>
              <a:t>CL</a:t>
            </a:r>
            <a:r>
              <a:rPr lang="en-US" sz="2000" dirty="0"/>
              <a:t>. And show whether the user input is less than, greater than and equal to CL. </a:t>
            </a:r>
            <a:r>
              <a:rPr lang="en-US" sz="2000" b="1" dirty="0"/>
              <a:t>Hints: </a:t>
            </a:r>
            <a:r>
              <a:rPr lang="en-US" sz="2000" dirty="0"/>
              <a:t>use CMP, JL, JG, JE</a:t>
            </a:r>
          </a:p>
          <a:p>
            <a:pPr lvl="2"/>
            <a:r>
              <a:rPr lang="en-US" sz="2200" b="1" dirty="0"/>
              <a:t>Sample output</a:t>
            </a:r>
          </a:p>
          <a:p>
            <a:pPr lvl="2"/>
            <a:r>
              <a:rPr lang="en-US" sz="2200" dirty="0"/>
              <a:t>Enter a number: </a:t>
            </a:r>
            <a:r>
              <a:rPr lang="en-US" sz="2200" dirty="0">
                <a:solidFill>
                  <a:srgbClr val="FF0000"/>
                </a:solidFill>
              </a:rPr>
              <a:t>1</a:t>
            </a:r>
          </a:p>
          <a:p>
            <a:pPr lvl="2"/>
            <a:r>
              <a:rPr lang="en-US" sz="2200" dirty="0">
                <a:solidFill>
                  <a:srgbClr val="FF0000"/>
                </a:solidFill>
              </a:rPr>
              <a:t>Less than 5</a:t>
            </a:r>
          </a:p>
          <a:p>
            <a:pPr lvl="2"/>
            <a:endParaRPr lang="en-US" sz="2200" dirty="0">
              <a:solidFill>
                <a:srgbClr val="FF0000"/>
              </a:solidFill>
            </a:endParaRPr>
          </a:p>
          <a:p>
            <a:pPr lvl="2"/>
            <a:r>
              <a:rPr lang="en-US" sz="2200" dirty="0"/>
              <a:t>Enter a number: </a:t>
            </a:r>
            <a:r>
              <a:rPr lang="en-US" sz="2200" dirty="0">
                <a:solidFill>
                  <a:srgbClr val="FF0000"/>
                </a:solidFill>
              </a:rPr>
              <a:t>7 </a:t>
            </a:r>
          </a:p>
          <a:p>
            <a:pPr lvl="2"/>
            <a:r>
              <a:rPr lang="en-US" sz="2200" dirty="0">
                <a:solidFill>
                  <a:srgbClr val="FF0000"/>
                </a:solidFill>
              </a:rPr>
              <a:t>Greater than 5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endParaRPr lang="en-US" sz="2200" dirty="0">
              <a:solidFill>
                <a:srgbClr val="FF0000"/>
              </a:solidFill>
            </a:endParaRPr>
          </a:p>
          <a:p>
            <a:pPr lvl="2"/>
            <a:r>
              <a:rPr lang="en-US" sz="2200" dirty="0"/>
              <a:t>Enter a number: </a:t>
            </a:r>
            <a:r>
              <a:rPr lang="en-US" sz="2200" dirty="0">
                <a:solidFill>
                  <a:srgbClr val="FF0000"/>
                </a:solidFill>
              </a:rPr>
              <a:t>5</a:t>
            </a:r>
          </a:p>
          <a:p>
            <a:pPr lvl="2"/>
            <a:r>
              <a:rPr lang="en-US" sz="2200" dirty="0">
                <a:solidFill>
                  <a:srgbClr val="FF0000"/>
                </a:solidFill>
              </a:rPr>
              <a:t>Equal to 5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9080DE-07D9-4D1C-835E-E7BBA96D7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971" y="3611044"/>
            <a:ext cx="2726836" cy="7183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81B6681-B2F6-4359-82B6-24B4BFCDD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3809" y="4474735"/>
            <a:ext cx="2692582" cy="6425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5DBFF6-77DB-4231-BDD3-124A835B98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7514" y="5564677"/>
            <a:ext cx="2692582" cy="585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1732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</a:t>
            </a:r>
            <a:r>
              <a:rPr lang="en-US"/>
              <a:t>:  5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Write a program to check password using Assembly Programming. Suppose the password is </a:t>
            </a:r>
            <a:r>
              <a:rPr lang="en-US" sz="2000" b="1" dirty="0" err="1"/>
              <a:t>mypassword</a:t>
            </a:r>
            <a:endParaRPr lang="en-US" sz="2000" b="1" dirty="0"/>
          </a:p>
          <a:p>
            <a:endParaRPr lang="en-US" sz="2000" b="1" dirty="0"/>
          </a:p>
          <a:p>
            <a:r>
              <a:rPr lang="en-US" sz="2200" b="1" dirty="0"/>
              <a:t>Sample output</a:t>
            </a:r>
          </a:p>
          <a:p>
            <a:endParaRPr lang="en-US" sz="2200" b="1" dirty="0"/>
          </a:p>
          <a:p>
            <a:pPr lvl="2"/>
            <a:r>
              <a:rPr lang="en-US" sz="2200" dirty="0"/>
              <a:t>Enter your password: </a:t>
            </a:r>
            <a:r>
              <a:rPr lang="en-US" sz="2400" b="1" dirty="0" err="1">
                <a:solidFill>
                  <a:srgbClr val="FF0000"/>
                </a:solidFill>
              </a:rPr>
              <a:t>mypassword</a:t>
            </a:r>
            <a:endParaRPr lang="en-US" sz="2200" dirty="0">
              <a:solidFill>
                <a:srgbClr val="FF0000"/>
              </a:solidFill>
            </a:endParaRPr>
          </a:p>
          <a:p>
            <a:pPr lvl="2"/>
            <a:r>
              <a:rPr lang="en-US" sz="2200" dirty="0">
                <a:solidFill>
                  <a:srgbClr val="FF0000"/>
                </a:solidFill>
              </a:rPr>
              <a:t>Password Matched</a:t>
            </a:r>
          </a:p>
          <a:p>
            <a:pPr lvl="2"/>
            <a:endParaRPr lang="en-US" sz="2200" dirty="0">
              <a:solidFill>
                <a:srgbClr val="FF0000"/>
              </a:solidFill>
            </a:endParaRPr>
          </a:p>
          <a:p>
            <a:pPr lvl="2"/>
            <a:r>
              <a:rPr lang="en-US" sz="2200" dirty="0"/>
              <a:t>Enter your password: </a:t>
            </a:r>
            <a:r>
              <a:rPr lang="en-US" sz="2200" dirty="0">
                <a:solidFill>
                  <a:srgbClr val="FF0000"/>
                </a:solidFill>
              </a:rPr>
              <a:t>password</a:t>
            </a:r>
          </a:p>
          <a:p>
            <a:pPr lvl="2"/>
            <a:r>
              <a:rPr lang="en-US" sz="2200" dirty="0">
                <a:solidFill>
                  <a:srgbClr val="FF0000"/>
                </a:solidFill>
              </a:rPr>
              <a:t>Password Not Matched</a:t>
            </a:r>
          </a:p>
          <a:p>
            <a:pPr lvl="2"/>
            <a:endParaRPr lang="en-US" sz="2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44723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</a:t>
            </a:r>
            <a:r>
              <a:rPr lang="en-US"/>
              <a:t>:  6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Read a character and display it </a:t>
            </a:r>
            <a:r>
              <a:rPr lang="en-US" sz="2200" b="1" dirty="0"/>
              <a:t>50</a:t>
            </a:r>
            <a:r>
              <a:rPr lang="en-US" sz="2200" dirty="0"/>
              <a:t> times on the next line. </a:t>
            </a:r>
            <a:r>
              <a:rPr lang="en-US" sz="2200" b="1" dirty="0"/>
              <a:t>Hints</a:t>
            </a:r>
            <a:r>
              <a:rPr lang="en-US" sz="2200" dirty="0"/>
              <a:t>: use </a:t>
            </a:r>
            <a:r>
              <a:rPr lang="en-US" sz="2200" b="1" dirty="0"/>
              <a:t>DEC and JNZ</a:t>
            </a:r>
            <a:r>
              <a:rPr lang="en-US" sz="2200" dirty="0"/>
              <a:t> instructions and</a:t>
            </a:r>
            <a:endParaRPr lang="en-US" sz="2200" b="1" dirty="0"/>
          </a:p>
          <a:p>
            <a:endParaRPr lang="en-US" sz="2200" dirty="0"/>
          </a:p>
          <a:p>
            <a:pPr lvl="2"/>
            <a:endParaRPr lang="en-US" sz="2200" dirty="0"/>
          </a:p>
          <a:p>
            <a:pPr lvl="2"/>
            <a:r>
              <a:rPr lang="en-US" sz="2200" b="1" dirty="0"/>
              <a:t>Sample Output</a:t>
            </a:r>
          </a:p>
          <a:p>
            <a:pPr lvl="2"/>
            <a:r>
              <a:rPr lang="en-US" sz="2200" dirty="0"/>
              <a:t>Enter a character: </a:t>
            </a:r>
            <a:r>
              <a:rPr lang="en-US" sz="2200" dirty="0">
                <a:solidFill>
                  <a:srgbClr val="FF0000"/>
                </a:solidFill>
              </a:rPr>
              <a:t>d</a:t>
            </a:r>
          </a:p>
          <a:p>
            <a:pPr lvl="2"/>
            <a:r>
              <a:rPr lang="en-US" sz="2200" dirty="0" err="1">
                <a:solidFill>
                  <a:srgbClr val="FF0000"/>
                </a:solidFill>
              </a:rPr>
              <a:t>dddddddddddddddddddddddddddddddddddddddddddddddddd</a:t>
            </a:r>
            <a:endParaRPr lang="en-US" sz="2200" dirty="0">
              <a:solidFill>
                <a:srgbClr val="FF0000"/>
              </a:solidFill>
            </a:endParaRPr>
          </a:p>
          <a:p>
            <a:pPr lvl="2"/>
            <a:endParaRPr lang="en-US" sz="2200" dirty="0">
              <a:solidFill>
                <a:srgbClr val="FF0000"/>
              </a:solidFill>
            </a:endParaRPr>
          </a:p>
          <a:p>
            <a:pPr lvl="2"/>
            <a:r>
              <a:rPr lang="en-US" sz="2200" dirty="0">
                <a:solidFill>
                  <a:srgbClr val="FF0000"/>
                </a:solidFill>
              </a:rPr>
              <a:t>Thank you. </a:t>
            </a:r>
          </a:p>
        </p:txBody>
      </p:sp>
    </p:spTree>
    <p:extLst>
      <p:ext uri="{BB962C8B-B14F-4D97-AF65-F5344CB8AC3E}">
        <p14:creationId xmlns:p14="http://schemas.microsoft.com/office/powerpoint/2010/main" val="7041074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Task:  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Read two character and display it new line</a:t>
            </a:r>
            <a:endParaRPr lang="en-US" sz="2200" b="1" dirty="0"/>
          </a:p>
          <a:p>
            <a:endParaRPr lang="en-US" sz="2200" dirty="0"/>
          </a:p>
          <a:p>
            <a:pPr lvl="2"/>
            <a:endParaRPr lang="en-US" sz="2200" dirty="0"/>
          </a:p>
          <a:p>
            <a:pPr lvl="2"/>
            <a:r>
              <a:rPr lang="en-US" sz="2200" b="1" dirty="0"/>
              <a:t>Sample Output</a:t>
            </a:r>
          </a:p>
          <a:p>
            <a:pPr lvl="2"/>
            <a:r>
              <a:rPr lang="en-US" sz="2200" dirty="0">
                <a:solidFill>
                  <a:srgbClr val="FF0000"/>
                </a:solidFill>
              </a:rPr>
              <a:t>AB</a:t>
            </a:r>
          </a:p>
          <a:p>
            <a:pPr lvl="2"/>
            <a:r>
              <a:rPr lang="en-US" sz="2200" dirty="0">
                <a:solidFill>
                  <a:srgbClr val="FF0000"/>
                </a:solidFill>
              </a:rPr>
              <a:t>AB</a:t>
            </a:r>
          </a:p>
        </p:txBody>
      </p:sp>
    </p:spTree>
    <p:extLst>
      <p:ext uri="{BB962C8B-B14F-4D97-AF65-F5344CB8AC3E}">
        <p14:creationId xmlns:p14="http://schemas.microsoft.com/office/powerpoint/2010/main" val="35714483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525529" y="2435897"/>
            <a:ext cx="8092942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Assembly Language  Programing and Organization of the IBM PC</a:t>
            </a:r>
          </a:p>
          <a:p>
            <a:endParaRPr lang="en-US" sz="4000" dirty="0"/>
          </a:p>
          <a:p>
            <a:pPr algn="ctr"/>
            <a:r>
              <a:rPr lang="en-US" sz="2400" dirty="0"/>
              <a:t> </a:t>
            </a:r>
            <a:r>
              <a:rPr lang="en-US" sz="2400" dirty="0" err="1"/>
              <a:t>Ytha</a:t>
            </a:r>
            <a:r>
              <a:rPr lang="en-US" sz="2400" dirty="0"/>
              <a:t> Yu</a:t>
            </a:r>
          </a:p>
          <a:p>
            <a:pPr algn="ctr"/>
            <a:r>
              <a:rPr lang="en-US" sz="2400" dirty="0"/>
              <a:t>Charles </a:t>
            </a:r>
            <a:r>
              <a:rPr lang="en-US" sz="2400" dirty="0" err="1"/>
              <a:t>Marut</a:t>
            </a:r>
            <a:r>
              <a:rPr lang="en-US" sz="2400" dirty="0"/>
              <a:t> </a:t>
            </a:r>
            <a:endParaRPr lang="en-FI" sz="2400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3466</TotalTime>
  <Words>821</Words>
  <Application>Microsoft Office PowerPoint</Application>
  <PresentationFormat>On-screen Show (4:3)</PresentationFormat>
  <Paragraphs>231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Century Gothic</vt:lpstr>
      <vt:lpstr>Corbel</vt:lpstr>
      <vt:lpstr>Helvetica Neue</vt:lpstr>
      <vt:lpstr>Times New Roman</vt:lpstr>
      <vt:lpstr>Wingdings</vt:lpstr>
      <vt:lpstr>Spectrum</vt:lpstr>
      <vt:lpstr>Flow Control Instructions</vt:lpstr>
      <vt:lpstr>Lab Outline</vt:lpstr>
      <vt:lpstr>Jump</vt:lpstr>
      <vt:lpstr>Unconditional Jump</vt:lpstr>
      <vt:lpstr>Conditional Jump Conti…</vt:lpstr>
      <vt:lpstr>Conditional Jump</vt:lpstr>
      <vt:lpstr>Signed Conditional Jump</vt:lpstr>
      <vt:lpstr>Unsigned Conditional Jump</vt:lpstr>
      <vt:lpstr>Single-Flag Conditional Jump</vt:lpstr>
      <vt:lpstr>Label</vt:lpstr>
      <vt:lpstr>Label</vt:lpstr>
      <vt:lpstr>Label</vt:lpstr>
      <vt:lpstr>Lab Tasks</vt:lpstr>
      <vt:lpstr>Lab Tasks</vt:lpstr>
      <vt:lpstr>Lab Tasks</vt:lpstr>
      <vt:lpstr>Lab Tasks</vt:lpstr>
      <vt:lpstr>Lab Tasks</vt:lpstr>
      <vt:lpstr>Lab Tasks</vt:lpstr>
      <vt:lpstr>Lab Tasks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Dipta Justin Gomes</cp:lastModifiedBy>
  <cp:revision>52</cp:revision>
  <dcterms:created xsi:type="dcterms:W3CDTF">2018-12-10T17:20:29Z</dcterms:created>
  <dcterms:modified xsi:type="dcterms:W3CDTF">2025-11-12T04:39:58Z</dcterms:modified>
</cp:coreProperties>
</file>