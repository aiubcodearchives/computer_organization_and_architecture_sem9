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69" r:id="rId4"/>
    <p:sldId id="370" r:id="rId5"/>
    <p:sldId id="371" r:id="rId6"/>
    <p:sldId id="375" r:id="rId7"/>
    <p:sldId id="372" r:id="rId8"/>
    <p:sldId id="373" r:id="rId9"/>
    <p:sldId id="363" r:id="rId10"/>
    <p:sldId id="364" r:id="rId11"/>
    <p:sldId id="365" r:id="rId12"/>
    <p:sldId id="366" r:id="rId13"/>
    <p:sldId id="367" r:id="rId14"/>
    <p:sldId id="368" r:id="rId15"/>
    <p:sldId id="374" r:id="rId16"/>
    <p:sldId id="264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0162" autoAdjust="0"/>
  </p:normalViewPr>
  <p:slideViewPr>
    <p:cSldViewPr snapToGrid="0" snapToObjects="1">
      <p:cViewPr varScale="1">
        <p:scale>
          <a:sx n="75" d="100"/>
          <a:sy n="75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ta Justin Gomes" userId="80a30147-8bc2-457a-9f88-f3a4049296b4" providerId="ADAL" clId="{912C1DEE-05F8-4D22-B14E-F6E8CC92E431}"/>
    <pc:docChg chg="modSld">
      <pc:chgData name="Dipta Justin Gomes" userId="80a30147-8bc2-457a-9f88-f3a4049296b4" providerId="ADAL" clId="{912C1DEE-05F8-4D22-B14E-F6E8CC92E431}" dt="2025-11-13T04:31:06.472" v="0" actId="20577"/>
      <pc:docMkLst>
        <pc:docMk/>
      </pc:docMkLst>
      <pc:sldChg chg="modSp mod">
        <pc:chgData name="Dipta Justin Gomes" userId="80a30147-8bc2-457a-9f88-f3a4049296b4" providerId="ADAL" clId="{912C1DEE-05F8-4D22-B14E-F6E8CC92E431}" dt="2025-11-13T04:31:06.472" v="0" actId="20577"/>
        <pc:sldMkLst>
          <pc:docMk/>
          <pc:sldMk cId="700707328" sldId="256"/>
        </pc:sldMkLst>
        <pc:graphicFrameChg chg="modGraphic">
          <ac:chgData name="Dipta Justin Gomes" userId="80a30147-8bc2-457a-9f88-f3a4049296b4" providerId="ADAL" clId="{912C1DEE-05F8-4D22-B14E-F6E8CC92E431}" dt="2025-11-13T04:31:06.472" v="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Branching </a:t>
            </a:r>
            <a:r>
              <a:rPr lang="en-US" sz="3000"/>
              <a:t>Structures and</a:t>
            </a:r>
            <a:br>
              <a:rPr lang="en-US" sz="3000" dirty="0"/>
            </a:br>
            <a:r>
              <a:rPr lang="en-US" sz="3000" dirty="0"/>
              <a:t>Algorithm conversion to assembly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9156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Branching structures enable a program to take different paths, depending on conditions. 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Here, We will look at three structures. </a:t>
            </a:r>
          </a:p>
          <a:p>
            <a:pPr marL="2343150" lvl="3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IF-THEN</a:t>
            </a:r>
          </a:p>
          <a:p>
            <a:pPr marL="2343150" lvl="3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IF-THEN-ELSE </a:t>
            </a:r>
          </a:p>
          <a:p>
            <a:pPr marL="2343150" lvl="3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CASE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Algorithm conversion to assembly language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IF-THEN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3226887" cy="2422677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IF condition is true.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	THEN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		execute true-branch statements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</a:rPr>
              <a:t>END_IF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</a:endParaRPr>
          </a:p>
        </p:txBody>
      </p:sp>
      <p:pic>
        <p:nvPicPr>
          <p:cNvPr id="7" name="Shape 149">
            <a:extLst>
              <a:ext uri="{FF2B5EF4-FFF2-40B4-BE49-F238E27FC236}">
                <a16:creationId xmlns:a16="http://schemas.microsoft.com/office/drawing/2014/main" id="{7403AA50-32FE-4E44-85E5-8577B2B343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55773" y="2097055"/>
            <a:ext cx="2621901" cy="36039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35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7"/>
            <a:ext cx="8106797" cy="3691640"/>
          </a:xfrm>
        </p:spPr>
        <p:txBody>
          <a:bodyPr>
            <a:normAutofit fontScale="55000" lnSpcReduction="20000"/>
          </a:bodyPr>
          <a:lstStyle/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3100" dirty="0">
                <a:solidFill>
                  <a:schemeClr val="tx1"/>
                </a:solidFill>
              </a:rPr>
              <a:t>The condition is an expression that is either </a:t>
            </a:r>
            <a:r>
              <a:rPr lang="en-US" sz="3100" b="1" dirty="0">
                <a:solidFill>
                  <a:schemeClr val="tx1"/>
                </a:solidFill>
              </a:rPr>
              <a:t>true</a:t>
            </a:r>
            <a:r>
              <a:rPr lang="en-US" sz="3100" dirty="0">
                <a:solidFill>
                  <a:schemeClr val="tx1"/>
                </a:solidFill>
              </a:rPr>
              <a:t> or </a:t>
            </a:r>
            <a:r>
              <a:rPr lang="en-US" sz="3100" b="1" dirty="0">
                <a:solidFill>
                  <a:schemeClr val="tx1"/>
                </a:solidFill>
              </a:rPr>
              <a:t>false</a:t>
            </a:r>
            <a:r>
              <a:rPr lang="en-US" sz="3100" dirty="0">
                <a:solidFill>
                  <a:schemeClr val="tx1"/>
                </a:solidFill>
              </a:rPr>
              <a:t>.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3100" dirty="0" err="1">
                <a:solidFill>
                  <a:schemeClr val="tx1"/>
                </a:solidFill>
              </a:rPr>
              <a:t>lf</a:t>
            </a:r>
            <a:r>
              <a:rPr lang="en-US" sz="3100" dirty="0">
                <a:solidFill>
                  <a:schemeClr val="tx1"/>
                </a:solidFill>
              </a:rPr>
              <a:t> It is </a:t>
            </a:r>
            <a:r>
              <a:rPr lang="en-US" sz="3100" b="1" dirty="0">
                <a:solidFill>
                  <a:schemeClr val="tx1"/>
                </a:solidFill>
              </a:rPr>
              <a:t>true</a:t>
            </a:r>
            <a:r>
              <a:rPr lang="en-US" sz="3100" dirty="0">
                <a:solidFill>
                  <a:schemeClr val="tx1"/>
                </a:solidFill>
              </a:rPr>
              <a:t>, the </a:t>
            </a:r>
            <a:r>
              <a:rPr lang="en-US" sz="3100" b="1" dirty="0">
                <a:solidFill>
                  <a:schemeClr val="tx1"/>
                </a:solidFill>
              </a:rPr>
              <a:t>true-branch</a:t>
            </a:r>
            <a:r>
              <a:rPr lang="en-US" sz="3100" dirty="0">
                <a:solidFill>
                  <a:schemeClr val="tx1"/>
                </a:solidFill>
              </a:rPr>
              <a:t> statements are executed.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3100" dirty="0" err="1">
                <a:solidFill>
                  <a:schemeClr val="tx1"/>
                </a:solidFill>
              </a:rPr>
              <a:t>lf</a:t>
            </a:r>
            <a:r>
              <a:rPr lang="en-US" sz="3100" dirty="0">
                <a:solidFill>
                  <a:schemeClr val="tx1"/>
                </a:solidFill>
              </a:rPr>
              <a:t> It is </a:t>
            </a:r>
            <a:r>
              <a:rPr lang="en-US" sz="3100" b="1" dirty="0">
                <a:solidFill>
                  <a:schemeClr val="tx1"/>
                </a:solidFill>
              </a:rPr>
              <a:t>false</a:t>
            </a:r>
            <a:r>
              <a:rPr lang="en-US" sz="3100" dirty="0">
                <a:solidFill>
                  <a:schemeClr val="tx1"/>
                </a:solidFill>
              </a:rPr>
              <a:t>, nothing is done, and the program goes on to whatever follows.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lang="en-US" sz="3100" b="1" dirty="0">
                <a:solidFill>
                  <a:schemeClr val="tx1"/>
                </a:solidFill>
              </a:rPr>
              <a:t>Example</a:t>
            </a:r>
            <a:r>
              <a:rPr lang="en-US" sz="3100" dirty="0">
                <a:solidFill>
                  <a:schemeClr val="tx1"/>
                </a:solidFill>
              </a:rPr>
              <a:t>: to Replace a number in AX by its absolute value…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3100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3100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4600" dirty="0">
                <a:solidFill>
                  <a:schemeClr val="tx1"/>
                </a:solidFill>
              </a:rPr>
              <a:t>IF AX &lt; 0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4600" dirty="0">
                <a:solidFill>
                  <a:schemeClr val="tx1"/>
                </a:solidFill>
              </a:rPr>
              <a:t>THEN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4600" dirty="0">
                <a:solidFill>
                  <a:schemeClr val="tx1"/>
                </a:solidFill>
              </a:rPr>
              <a:t>	replace AX by -AX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4600" dirty="0">
                <a:solidFill>
                  <a:schemeClr val="tx1"/>
                </a:solidFill>
              </a:rPr>
              <a:t>END_IF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Shape 157">
            <a:extLst>
              <a:ext uri="{FF2B5EF4-FFF2-40B4-BE49-F238E27FC236}">
                <a16:creationId xmlns:a16="http://schemas.microsoft.com/office/drawing/2014/main" id="{95FAA0F9-F1CC-45A1-905D-B042F52C4D76}"/>
              </a:ext>
            </a:extLst>
          </p:cNvPr>
          <p:cNvSpPr/>
          <p:nvPr/>
        </p:nvSpPr>
        <p:spPr>
          <a:xfrm>
            <a:off x="3827660" y="4114799"/>
            <a:ext cx="3120467" cy="17815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2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CMP AX, 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2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JNL END_IF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2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NEG AX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2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END_IF:</a:t>
            </a:r>
          </a:p>
        </p:txBody>
      </p:sp>
      <p:cxnSp>
        <p:nvCxnSpPr>
          <p:cNvPr id="6" name="Shape 158">
            <a:extLst>
              <a:ext uri="{FF2B5EF4-FFF2-40B4-BE49-F238E27FC236}">
                <a16:creationId xmlns:a16="http://schemas.microsoft.com/office/drawing/2014/main" id="{83B2E71D-2946-4C83-A7A1-9A57B49B6C30}"/>
              </a:ext>
            </a:extLst>
          </p:cNvPr>
          <p:cNvCxnSpPr>
            <a:cxnSpLocks/>
          </p:cNvCxnSpPr>
          <p:nvPr/>
        </p:nvCxnSpPr>
        <p:spPr>
          <a:xfrm flipH="1">
            <a:off x="3654075" y="4114799"/>
            <a:ext cx="1590" cy="185778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9308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IF-THEN-ELSE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7"/>
            <a:ext cx="8106797" cy="3691640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>
                <a:solidFill>
                  <a:schemeClr val="tx1"/>
                </a:solidFill>
              </a:rPr>
              <a:t>IF condition is true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	      THEN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			execute true-branch statements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      ELSE 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		        execute false-branch statements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>
                <a:solidFill>
                  <a:schemeClr val="tx1"/>
                </a:solidFill>
              </a:rPr>
              <a:t>END_IF </a:t>
            </a:r>
          </a:p>
          <a:p>
            <a:pPr marL="800100" lvl="0" indent="-342900" defTabSz="461518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</a:defRPr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7" name="Shape 165">
            <a:extLst>
              <a:ext uri="{FF2B5EF4-FFF2-40B4-BE49-F238E27FC236}">
                <a16:creationId xmlns:a16="http://schemas.microsoft.com/office/drawing/2014/main" id="{552E7194-F5DC-431A-BBCC-64E66DBB4A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78455" y="2114550"/>
            <a:ext cx="2409890" cy="3941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062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IF-THEN-ELSE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7"/>
            <a:ext cx="8106797" cy="3691640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Example</a:t>
            </a:r>
            <a:r>
              <a:rPr lang="en-US" sz="2400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: Suppose AL and BL contain extended ASCII characters. Display the one that comes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Shape 172">
            <a:extLst>
              <a:ext uri="{FF2B5EF4-FFF2-40B4-BE49-F238E27FC236}">
                <a16:creationId xmlns:a16="http://schemas.microsoft.com/office/drawing/2014/main" id="{97B620D2-88CB-4787-8485-76D8D2CEAC30}"/>
              </a:ext>
            </a:extLst>
          </p:cNvPr>
          <p:cNvSpPr/>
          <p:nvPr/>
        </p:nvSpPr>
        <p:spPr>
          <a:xfrm>
            <a:off x="929689" y="3248093"/>
            <a:ext cx="3687605" cy="2819582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IF AL &lt;=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	Display the character in AL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ELSE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	Display the character in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 IF</a:t>
            </a:r>
          </a:p>
        </p:txBody>
      </p:sp>
      <p:sp>
        <p:nvSpPr>
          <p:cNvPr id="6" name="Shape 173">
            <a:extLst>
              <a:ext uri="{FF2B5EF4-FFF2-40B4-BE49-F238E27FC236}">
                <a16:creationId xmlns:a16="http://schemas.microsoft.com/office/drawing/2014/main" id="{AE6B507D-E4CB-4814-A7A6-8739F97EE535}"/>
              </a:ext>
            </a:extLst>
          </p:cNvPr>
          <p:cNvSpPr/>
          <p:nvPr/>
        </p:nvSpPr>
        <p:spPr>
          <a:xfrm>
            <a:off x="4951182" y="3302970"/>
            <a:ext cx="3423265" cy="3224796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AH,2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CMP AL,BL     ;AL&lt;=BL 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JNBE ELSE_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DL,AL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JMP DISPLAY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ELSE_: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DL,BL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DISPLAY: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INT 2lh </a:t>
            </a:r>
          </a:p>
        </p:txBody>
      </p:sp>
      <p:cxnSp>
        <p:nvCxnSpPr>
          <p:cNvPr id="8" name="Shape 174">
            <a:extLst>
              <a:ext uri="{FF2B5EF4-FFF2-40B4-BE49-F238E27FC236}">
                <a16:creationId xmlns:a16="http://schemas.microsoft.com/office/drawing/2014/main" id="{D740C7F0-145E-44B6-8C93-10B67ED9BCF3}"/>
              </a:ext>
            </a:extLst>
          </p:cNvPr>
          <p:cNvCxnSpPr>
            <a:cxnSpLocks/>
          </p:cNvCxnSpPr>
          <p:nvPr/>
        </p:nvCxnSpPr>
        <p:spPr>
          <a:xfrm>
            <a:off x="4572000" y="3598606"/>
            <a:ext cx="45294" cy="2379407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3288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CASE</a:t>
            </a:r>
            <a:endParaRPr lang="en-US" sz="3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339B09-9F68-4AD3-80AD-AF5E77FD7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77794-19EE-4FCD-B533-997BA338AE0B}"/>
              </a:ext>
            </a:extLst>
          </p:cNvPr>
          <p:cNvSpPr/>
          <p:nvPr/>
        </p:nvSpPr>
        <p:spPr>
          <a:xfrm>
            <a:off x="169042" y="2214541"/>
            <a:ext cx="831357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buClr>
                <a:srgbClr val="FFFFFF"/>
              </a:buClr>
              <a:buSzPct val="75000"/>
            </a:pPr>
            <a:r>
              <a:rPr lang="en-US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A CASE is a multi-way branch structure that tests a register, variable, or expression for particular values or a range of values.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01FA7B-2E64-4227-A0B9-D4A2DF3A053F}"/>
              </a:ext>
            </a:extLst>
          </p:cNvPr>
          <p:cNvSpPr/>
          <p:nvPr/>
        </p:nvSpPr>
        <p:spPr>
          <a:xfrm>
            <a:off x="169042" y="3100481"/>
            <a:ext cx="35770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CASE Expression</a:t>
            </a:r>
          </a:p>
          <a:p>
            <a:r>
              <a:rPr lang="en-US" dirty="0"/>
              <a:t>	Values_1: Statement_1</a:t>
            </a:r>
          </a:p>
          <a:p>
            <a:r>
              <a:rPr lang="en-US" dirty="0"/>
              <a:t>	Values_2: Statement_2</a:t>
            </a:r>
          </a:p>
          <a:p>
            <a:r>
              <a:rPr lang="en-US" dirty="0"/>
              <a:t>	…</a:t>
            </a:r>
          </a:p>
          <a:p>
            <a:r>
              <a:rPr lang="en-US" dirty="0"/>
              <a:t>	</a:t>
            </a:r>
            <a:r>
              <a:rPr lang="en-US" dirty="0" err="1"/>
              <a:t>Values_n</a:t>
            </a:r>
            <a:r>
              <a:rPr lang="en-US" dirty="0"/>
              <a:t>: </a:t>
            </a:r>
            <a:r>
              <a:rPr lang="en-US" dirty="0" err="1"/>
              <a:t>Statement_n</a:t>
            </a:r>
            <a:endParaRPr lang="en-US" dirty="0"/>
          </a:p>
          <a:p>
            <a:r>
              <a:rPr lang="en-US" dirty="0"/>
              <a:t>END_CASE</a:t>
            </a:r>
          </a:p>
        </p:txBody>
      </p:sp>
      <p:pic>
        <p:nvPicPr>
          <p:cNvPr id="18" name="Shape 181">
            <a:extLst>
              <a:ext uri="{FF2B5EF4-FFF2-40B4-BE49-F238E27FC236}">
                <a16:creationId xmlns:a16="http://schemas.microsoft.com/office/drawing/2014/main" id="{07FF2C33-4AEB-4357-BCFD-8A1A5E358E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65291" y="2910286"/>
            <a:ext cx="2833587" cy="3220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564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CASE</a:t>
            </a:r>
            <a:endParaRPr lang="en-US" sz="3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339B09-9F68-4AD3-80AD-AF5E77FD7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77794-19EE-4FCD-B533-997BA338AE0B}"/>
              </a:ext>
            </a:extLst>
          </p:cNvPr>
          <p:cNvSpPr/>
          <p:nvPr/>
        </p:nvSpPr>
        <p:spPr>
          <a:xfrm>
            <a:off x="169042" y="2214541"/>
            <a:ext cx="831357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buClr>
                <a:srgbClr val="FFFFFF"/>
              </a:buClr>
              <a:buSzPct val="75000"/>
            </a:pPr>
            <a:r>
              <a:rPr lang="en-US" b="1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Example</a:t>
            </a:r>
            <a:r>
              <a:rPr lang="en-US" dirty="0"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: If AX contains a negative number, put -1 in BX; if AX contains 0, put 0 in BX; and if AX contains a positive number, put 1 in BX.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01FA7B-2E64-4227-A0B9-D4A2DF3A053F}"/>
              </a:ext>
            </a:extLst>
          </p:cNvPr>
          <p:cNvSpPr/>
          <p:nvPr/>
        </p:nvSpPr>
        <p:spPr>
          <a:xfrm>
            <a:off x="1073610" y="3115593"/>
            <a:ext cx="30854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CASE AX </a:t>
            </a:r>
          </a:p>
          <a:p>
            <a:pPr lvl="1"/>
            <a:r>
              <a:rPr lang="en-US" dirty="0"/>
              <a:t>&lt;0 : put -1 in BX </a:t>
            </a:r>
          </a:p>
          <a:p>
            <a:pPr lvl="1"/>
            <a:r>
              <a:rPr lang="en-US" dirty="0"/>
              <a:t>=0 : put  0 in BX </a:t>
            </a:r>
          </a:p>
          <a:p>
            <a:pPr lvl="1"/>
            <a:r>
              <a:rPr lang="en-US" dirty="0"/>
              <a:t>&gt;0 : put +l in BX </a:t>
            </a:r>
          </a:p>
          <a:p>
            <a:r>
              <a:rPr lang="en-US" dirty="0"/>
              <a:t>END_CASE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2BDB0-14A6-49B1-B8C5-9F0584605C89}"/>
              </a:ext>
            </a:extLst>
          </p:cNvPr>
          <p:cNvSpPr/>
          <p:nvPr/>
        </p:nvSpPr>
        <p:spPr>
          <a:xfrm>
            <a:off x="4439265" y="2832749"/>
            <a:ext cx="2915264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CMP AX,O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JL NEGATIVE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JE ZERO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JG POSITIVE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NEGATIVE: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BX,-1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ZERO: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BX,0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POSITIVE: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	MOV BX, l </a:t>
            </a:r>
          </a:p>
          <a:p>
            <a:pPr lvl="0">
              <a:buSzPct val="25000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END_CASE:</a:t>
            </a:r>
          </a:p>
        </p:txBody>
      </p:sp>
    </p:spTree>
    <p:extLst>
      <p:ext uri="{BB962C8B-B14F-4D97-AF65-F5344CB8AC3E}">
        <p14:creationId xmlns:p14="http://schemas.microsoft.com/office/powerpoint/2010/main" val="230833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IF AX &lt; 0</a:t>
            </a:r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THEN</a:t>
            </a:r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PUT -1 IN BX</a:t>
            </a:r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END IF</a:t>
            </a:r>
            <a:endParaRPr lang="en-US" sz="22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</a:t>
            </a:r>
            <a:r>
              <a:rPr lang="en-US" sz="2200" dirty="0" err="1"/>
              <a:t>progam</a:t>
            </a:r>
            <a:r>
              <a:rPr lang="en-US" sz="22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IF "AL </a:t>
            </a:r>
            <a:r>
              <a:rPr lang="en-US" sz="8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&lt;</a:t>
            </a:r>
            <a:r>
              <a:rPr lang="en-US" sz="800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THEN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put </a:t>
            </a:r>
            <a:r>
              <a:rPr lang="en-US" b="1" dirty="0" err="1">
                <a:solidFill>
                  <a:srgbClr val="FF0000"/>
                </a:solidFill>
              </a:rPr>
              <a:t>FFh</a:t>
            </a:r>
            <a:r>
              <a:rPr lang="en-US" b="1" dirty="0">
                <a:solidFill>
                  <a:srgbClr val="FF0000"/>
                </a:solidFill>
              </a:rPr>
              <a:t> in AH'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ELSE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put </a:t>
            </a:r>
            <a:r>
              <a:rPr lang="en-US" sz="2400" b="1" dirty="0">
                <a:solidFill>
                  <a:srgbClr val="FF0000"/>
                </a:solidFill>
              </a:rPr>
              <a:t>0 </a:t>
            </a:r>
            <a:r>
              <a:rPr lang="en-US" b="1" dirty="0">
                <a:solidFill>
                  <a:srgbClr val="FF0000"/>
                </a:solidFill>
              </a:rPr>
              <a:t>in AH</a:t>
            </a:r>
          </a:p>
          <a:p>
            <a:pPr lvl="4"/>
            <a:r>
              <a:rPr lang="en-US" b="1" dirty="0">
                <a:solidFill>
                  <a:srgbClr val="FF0000"/>
                </a:solidFill>
              </a:rPr>
              <a:t>END_IF</a:t>
            </a:r>
            <a:endParaRPr lang="en-US" sz="22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8533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173B8-30BE-487A-A709-E34C28B47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2772255"/>
            <a:ext cx="633412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3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E71C8E-DF4E-424C-94C6-E2049C5F0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87" y="2747962"/>
            <a:ext cx="2333625" cy="1362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A87E1-D5A3-410F-85AA-CA55062C7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776" y="3971536"/>
            <a:ext cx="32670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21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BE11A-DAC4-4AC0-B376-85B0475CD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2910082"/>
            <a:ext cx="4664075" cy="212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86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convert following code into assembly program.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A616D-A271-4125-8FC7-51C2A4DA7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514" y="2722880"/>
            <a:ext cx="2739347" cy="3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41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Write a program to display "</a:t>
            </a:r>
            <a:r>
              <a:rPr lang="en-US" sz="2200" b="1" dirty="0"/>
              <a:t>o"</a:t>
            </a:r>
            <a:r>
              <a:rPr lang="en-US" sz="2200" dirty="0"/>
              <a:t> if AL contains </a:t>
            </a:r>
            <a:r>
              <a:rPr lang="en-US" sz="2200" b="1" dirty="0"/>
              <a:t>1 </a:t>
            </a:r>
            <a:r>
              <a:rPr lang="en-US" sz="2200" dirty="0"/>
              <a:t>or </a:t>
            </a:r>
            <a:r>
              <a:rPr lang="en-US" sz="2200" b="1" dirty="0"/>
              <a:t>3</a:t>
            </a:r>
            <a:r>
              <a:rPr lang="en-US" sz="2200" dirty="0"/>
              <a:t>; if AL contains </a:t>
            </a:r>
            <a:r>
              <a:rPr lang="en-US" sz="2200" b="1" dirty="0"/>
              <a:t>2</a:t>
            </a:r>
            <a:r>
              <a:rPr lang="en-US" sz="2200" dirty="0"/>
              <a:t> or </a:t>
            </a:r>
            <a:r>
              <a:rPr lang="en-US" sz="2200" b="1" dirty="0"/>
              <a:t>4</a:t>
            </a:r>
            <a:r>
              <a:rPr lang="en-US" sz="2200" dirty="0"/>
              <a:t>, display "</a:t>
            </a:r>
            <a:r>
              <a:rPr lang="en-US" sz="2200" b="1" dirty="0"/>
              <a:t>e</a:t>
            </a:r>
            <a:r>
              <a:rPr lang="en-US" sz="2200" dirty="0"/>
              <a:t>".. </a:t>
            </a:r>
            <a:endParaRPr lang="en-US" sz="2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40830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 Programing and Organization of the IBM PC; by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Ytha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Yu, Charles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FI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912268" y="1755056"/>
            <a:ext cx="7120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10AB2-E549-4DEA-BD62-E89FCFE5A443}"/>
              </a:ext>
            </a:extLst>
          </p:cNvPr>
          <p:cNvSpPr txBox="1"/>
          <p:nvPr/>
        </p:nvSpPr>
        <p:spPr>
          <a:xfrm>
            <a:off x="335494" y="1939722"/>
            <a:ext cx="8473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 Programing and Organization of the IBM PC; by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Ytha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Yu, Charles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FI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3510</TotalTime>
  <Words>659</Words>
  <Application>Microsoft Office PowerPoint</Application>
  <PresentationFormat>On-screen Show (4:3)</PresentationFormat>
  <Paragraphs>130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Corbel</vt:lpstr>
      <vt:lpstr>Times New Roman</vt:lpstr>
      <vt:lpstr>Wingdings</vt:lpstr>
      <vt:lpstr>Spectrum</vt:lpstr>
      <vt:lpstr>Branching Structures and Algorithm conversion to assembly language</vt:lpstr>
      <vt:lpstr>Lab Outline</vt:lpstr>
      <vt:lpstr>IF-THEN</vt:lpstr>
      <vt:lpstr>A Pseudo Code , Algorithm and Code for IF-THEN</vt:lpstr>
      <vt:lpstr>IF-THEN-ELSE</vt:lpstr>
      <vt:lpstr>IF-THEN-ELSE</vt:lpstr>
      <vt:lpstr>CASE</vt:lpstr>
      <vt:lpstr>CASE</vt:lpstr>
      <vt:lpstr>Lab Tasks</vt:lpstr>
      <vt:lpstr>Lab Tasks</vt:lpstr>
      <vt:lpstr>Lab Tasks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Dipta Justin Gomes</cp:lastModifiedBy>
  <cp:revision>16</cp:revision>
  <dcterms:created xsi:type="dcterms:W3CDTF">2018-12-10T17:20:29Z</dcterms:created>
  <dcterms:modified xsi:type="dcterms:W3CDTF">2025-11-13T04:31:11Z</dcterms:modified>
</cp:coreProperties>
</file>